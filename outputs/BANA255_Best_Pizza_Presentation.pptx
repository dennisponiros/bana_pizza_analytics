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BEST PIZZA NEAR 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Data-Driven Market Entry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2D2D"/>
                </a:solidFill>
              </a:defRPr>
            </a:pPr>
            <a:r>
              <a:t>BANA255 Business Analytics | Fall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5486400" cy="18288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7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97680"/>
            <a:ext cx="5486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76C00"/>
                </a:solidFill>
              </a:defRPr>
            </a:pPr>
            <a:r>
              <a:t>161 Students Surveyed</a:t>
            </a:r>
          </a:p>
          <a:p>
            <a:pPr algn="ctr">
              <a:defRPr sz="1800">
                <a:solidFill>
                  <a:srgbClr val="2D2D2D"/>
                </a:solidFill>
              </a:defRPr>
            </a:pPr>
            <a:r>
              <a:t>52 Visualizations | 3-Component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2D2D"/>
                </a:solidFill>
              </a:defRPr>
            </a:pPr>
            <a:r>
              <a:t>THE ACTION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76C00"/>
                </a:solidFill>
              </a:defRPr>
            </a:pPr>
            <a:r>
              <a:t>Our Analytical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Framework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76C00"/>
                </a:solidFill>
              </a:defRPr>
            </a:pPr>
            <a:r>
              <a:t>ASK &amp; CLARIFY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Question: What defines 'best pizza' for RIT students?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161 consented survey responses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98.6% data completeness, 92/100 quality score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9 pizza quality factors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76C00"/>
                </a:solidFill>
              </a:defRPr>
            </a:pPr>
            <a:r>
              <a:t>THINK &amp; INFORM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Weighted importance model (Friedman test)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ML prediction: RF, GBM, Logistic (71% acc)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Competitive ranking with composite scores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Van Westendorp price sensitivity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2D2D"/>
                </a:solidFill>
              </a:defRPr>
            </a:pPr>
            <a:r>
              <a:t>OUR 'BEST PIZZA'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76C00"/>
                </a:solidFill>
              </a:defRPr>
            </a:pPr>
            <a:r>
              <a:t>Three Components, One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Component 1: What Makes Pizza 'Best'?</a:t>
            </a:r>
          </a:p>
        </p:txBody>
      </p:sp>
      <p:pic>
        <p:nvPicPr>
          <p:cNvPr id="4" name="Picture 3" descr="fig7_importanc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4277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Taste &amp; Flavor: 14.1% weight (94% rate highly important)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Balance: 12.6% | Crust: 12.2% | Freshness: 12.1%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Price: 12.0% (critical value factor)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Core Quality factors = 51% of total weight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Friedman Test: X² = 435.85, p &lt; 0.001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Component 2: Predicting Local vs Chain Choice</a:t>
            </a:r>
          </a:p>
        </p:txBody>
      </p:sp>
      <p:pic>
        <p:nvPicPr>
          <p:cNvPr id="4" name="Picture 3" descr="fig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592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71.1% accuracy WITHOUT circular features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Excluded 'states prefer local' (tautological)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Top predictors: Pickup time, Max price, Transportation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Students with cars: 2.7x more likely to choose local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Key insight: Convenience drives actual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Component 3: Competitive Threat Ranking</a:t>
            </a:r>
          </a:p>
        </p:txBody>
      </p:sp>
      <p:pic>
        <p:nvPicPr>
          <p:cNvPr id="4" name="Picture 3" descr="fig8_competitiv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4523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D2D2D"/>
                </a:solidFill>
              </a:defRPr>
            </a:pPr>
            <a:r>
              <a:t>Composite score: Market Share (30%) + Loyalty (25%) + Profile Match (25%) + Local Capture (20%)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THE WINNER IS...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DOMINO'S PIZZA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7315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76C00"/>
                </a:solidFill>
              </a:defRPr>
            </a:pPr>
            <a:r>
              <a:t>27.3% Market Share (44 votes)</a:t>
            </a:r>
          </a:p>
          <a:p>
            <a:pPr algn="ctr">
              <a:defRPr sz="2200">
                <a:solidFill>
                  <a:srgbClr val="2D2D2D"/>
                </a:solidFill>
              </a:defRPr>
            </a:pPr>
            <a:r>
              <a:t>Threat Score: 73.9/100</a:t>
            </a:r>
          </a:p>
          <a:p>
            <a:pPr algn="ctr">
              <a:defRPr sz="2000">
                <a:solidFill>
                  <a:srgbClr val="2D2D2D"/>
                </a:solidFill>
              </a:defRPr>
            </a:pPr>
            <a:r>
              <a:t>Statistical Significance: p = 0.0001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371600"/>
            <a:ext cx="6400800" cy="41148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6459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46pp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THE LOCAL-CHAIN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D2D2D"/>
                </a:solidFill>
              </a:defRPr>
            </a:pPr>
            <a:r>
              <a:t>84% SAY they prefer local pizza, but only 38% CHOOSE local pizza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Preference-Action Gap Explained</a:t>
            </a:r>
          </a:p>
        </p:txBody>
      </p:sp>
      <p:pic>
        <p:nvPicPr>
          <p:cNvPr id="4" name="Picture 3" descr="fig9_local_chain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249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74 students WANT local but choose chains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Why? Convenience constraints: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Transportation barriers (no car)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Time constraints (chains are faster)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Price perception (chains seem cheaper)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This gap = Our market opportunity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2D2D"/>
                </a:solidFill>
              </a:defRPr>
            </a:pPr>
            <a:r>
              <a:t>MARKET ENTRY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76C00"/>
                </a:solidFill>
              </a:defRPr>
            </a:pPr>
            <a:r>
              <a:t>Capturing the Opportunity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SWOT ANALYSIS: Market Entry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• 84% prefer local quality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Fresh, authentic positioning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Untapped 'persuadable'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• New entrant (no brand recognition)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Higher operating costs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Limited delivery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96F3"/>
                </a:solidFill>
              </a:defRPr>
            </a:pPr>
            <a:r>
              <a:t>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• 46pp preference-action gap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74 students ready to switch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$9.38 avg side order spend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• Domino's convenience dominance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Chain price competition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• Student budget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Optimal Pricing: Van Westendorp Analysis</a:t>
            </a:r>
          </a:p>
        </p:txBody>
      </p:sp>
      <p:pic>
        <p:nvPicPr>
          <p:cNvPr id="4" name="Picture 3" descr="fig35_van_westendo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358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Optimal Price Point: $18-20 for 16" pizza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Acceptable range: $15-22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Below $15: Perceived as low quality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Above $22: Too expensive for students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Side order opportunity: $9.38 average spend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Target Customer Segments</a:t>
            </a:r>
          </a:p>
        </p:txBody>
      </p:sp>
      <p:pic>
        <p:nvPicPr>
          <p:cNvPr id="4" name="Picture 3" descr="fig16_custom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592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Primary: Quality Seekers (29%)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Prioritize taste over price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Higher price tolerance ($20+)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Secondary: Value Hunters (35%)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Price-sensitive but quality-aware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  - Target with combo deals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Key: Students with transportation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Side Order Revenue Opportunity</a:t>
            </a:r>
          </a:p>
        </p:txBody>
      </p:sp>
      <p:pic>
        <p:nvPicPr>
          <p:cNvPr id="4" name="Picture 3" descr="fig47_side_order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349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Garlic knots: 65% would likely order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Wings: 53% would likely order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Breadsticks: 41% would likely order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Average side spend: $9.38 per order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t>• Strategic recommendation: Bundle with pizza deals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1188720"/>
          </a:xfrm>
          <a:prstGeom prst="round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"LOCAL QUALITY AT CHAIN CONVENIENCE"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76C00"/>
                </a:solidFill>
              </a:defRPr>
            </a:pPr>
            <a: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661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2D2D"/>
                </a:solidFill>
              </a:defRPr>
            </a:pPr>
            <a:r>
              <a:t>Exceptional taste (94% priority)</a:t>
            </a:r>
            <a:br/>
            <a:r>
              <a:t>Fresh ingredients, balanced flavor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83464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76C00"/>
                </a:solidFill>
              </a:defRPr>
            </a:pPr>
            <a: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5661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2D2D"/>
                </a:solidFill>
              </a:defRPr>
            </a:pPr>
            <a:r>
              <a:t>$18-20 for 16" pizza</a:t>
            </a:r>
            <a:br/>
            <a:r>
              <a:t>Optimal Van Westendorp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76C00"/>
                </a:solidFill>
              </a:defRPr>
            </a:pPr>
            <a: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5661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2D2D"/>
                </a:solidFill>
              </a:defRPr>
            </a:pPr>
            <a:r>
              <a:t>Fast pickup (&lt;22 min)</a:t>
            </a:r>
            <a:br/>
            <a:r>
              <a:t>Reliable delivery times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83464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017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76C00"/>
                </a:solidFill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5661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2D2D"/>
                </a:solidFill>
              </a:defRPr>
            </a:pPr>
            <a:r>
              <a:t>Students with transportation</a:t>
            </a:r>
            <a:br/>
            <a:r>
              <a:t>2.7x more likely to choose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</a:defRPr>
            </a:pPr>
            <a:r>
              <a:t>Capture the 74 'persuadable' students ready to switch from chains to quality local pizza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76C00"/>
                </a:solidFill>
              </a:defRPr>
            </a:pPr>
            <a:r>
              <a:t>MARKET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161 students surveyed (98.6% complete)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Domino's leads: 27.3% market share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84% prefer local, 38% choose local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46 percentage point gap = opportunity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71.1% prediction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76C00"/>
                </a:solidFill>
              </a:defRPr>
            </a:pPr>
            <a:r>
              <a:t>SUCCESS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Taste is #1 (14.1% weight, 94% priority)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Speed matters: &lt;22 min pickup expected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Price sweet spot: $18-20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Side orders: +$9.38 per ticket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Target: Students with transportation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The Best Pizza = Taste + Value + Speed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Winner: Domino's | Opportunity: 74 Persuadable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